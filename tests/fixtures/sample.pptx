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처리 문서 수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180</c:v>
                </c:pt>
                <c:pt idx="2">
                  <c:v>240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시 띄어쓰기 사례를 함께 보여 줄 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2026년 문서 파싱 고도화 계획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디지털혁신팀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추진 배경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문서 파싱 품질 문제</a:t>
            </a:r>
          </a:p>
          <a:p>
            <a:pPr lvl="1"/>
            <a:r>
              <a:t>표 구조 손실</a:t>
            </a:r>
          </a:p>
          <a:p>
            <a:pPr lvl="1"/>
            <a:r>
              <a:t>띄어쓰기 소실</a:t>
            </a:r>
          </a:p>
          <a:p>
            <a:pPr/>
            <a:r>
              <a:t>처리 속도 문제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예산 계획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00200"/>
          <a:ext cx="6000000" cy="1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00"/>
                <a:gridCol w="2000000"/>
                <a:gridCol w="2000000"/>
              </a:tblGrid>
              <a:tr h="400000">
                <a:tc rowSpan="2">
                  <a:txBody>
                    <a:bodyPr/>
                    <a:lstStyle/>
                    <a:p>
                      <a:r>
                        <a:t>구분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t>2026년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00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상반기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하반기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t>인건비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t>장비비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분기별 처리량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600200"/>
          <a:ext cx="6000000" cy="30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4" name="Picture 3" descr="처리 흐름 그림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000" y="1600200"/>
            <a:ext cx="1200000" cy="900000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457200" y="4800000"/>
            <a:ext cx="4000000" cy="500000"/>
            <a:chOff x="457200" y="4800000"/>
            <a:chExt cx="4000000" cy="500000"/>
          </a:xfrm>
        </p:grpSpPr>
        <p:sp>
          <p:nvSpPr>
            <p:cNvPr id="6" name="TextBox 5"/>
            <p:cNvSpPr txBox="1"/>
            <p:nvPr/>
          </p:nvSpPr>
          <p:spPr>
            <a:xfrm>
              <a:off x="457200" y="4800000"/>
              <a:ext cx="4000000" cy="5000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200"/>
                <a:t>※ 자료: 내부 집계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